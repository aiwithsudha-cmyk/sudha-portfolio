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4206240" cy="42062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97680"/>
            <a:ext cx="3291840" cy="32918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685800"/>
            <a:ext cx="1737360" cy="1737360"/>
          </a:xfrm>
          <a:prstGeom prst="ellipse">
            <a:avLst/>
          </a:prstGeom>
          <a:solidFill>
            <a:srgbClr val="B8460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nri-gtm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10515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9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280160"/>
            <a:ext cx="9784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Capturing NRIs, Country by Country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E8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acquisition, answer-engine visibility, and community campaigns for 66 MG Road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40080" y="5212080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000000"/>
          </a:solidFill>
          <a:ln w="12700">
            <a:solidFill>
              <a:srgbClr val="B8460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21208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CAPTURE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10128" y="5212080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000000"/>
          </a:solidFill>
          <a:ln w="12700">
            <a:solidFill>
              <a:srgbClr val="B8460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0128" y="521208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0176" y="5212080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000000"/>
          </a:solidFill>
          <a:ln w="12700">
            <a:solidFill>
              <a:srgbClr val="B8460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521208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 / GEO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650224" y="5212080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000000"/>
          </a:solidFill>
          <a:ln w="12700">
            <a:solidFill>
              <a:srgbClr val="B8460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50224" y="521208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&amp; REDDIT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66 MG Road  |  Strategy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Diaspora Segments, Four Different Buyers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NRI demand is not one audience — geography changes income, urgency, and the channel that earns trust.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24912" cy="443484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7048" y="1892808"/>
            <a:ext cx="768096" cy="768096"/>
          </a:xfrm>
          <a:prstGeom prst="ellipse">
            <a:avLst/>
          </a:prstGeom>
          <a:solidFill>
            <a:srgbClr val="161616"/>
          </a:solidFill>
          <a:ln/>
        </p:spPr>
      </p:sp>
      <p:pic>
        <p:nvPicPr>
          <p:cNvPr id="6" name="Image 0" descr="/home/claude/nri-gtm/gul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05740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0720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Gulf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3172968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9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· Saudi Arabia · Qatar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14400" y="3593592"/>
            <a:ext cx="1993392" cy="0"/>
          </a:xfrm>
          <a:prstGeom prst="line">
            <a:avLst/>
          </a:prstGeom>
          <a:noFill/>
          <a:ln w="12700">
            <a:solidFill>
              <a:srgbClr val="E5E0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721608"/>
            <a:ext cx="232257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NRI population and highest remittance volume into Indian real estate.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3232" y="5257800"/>
            <a:ext cx="2395728" cy="566928"/>
          </a:xfrm>
          <a:prstGeom prst="roundRect">
            <a:avLst>
              <a:gd name="adj" fmla="val 9677"/>
            </a:avLst>
          </a:prstGeom>
          <a:solidFill>
            <a:srgbClr val="FBEAD9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5257800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B84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WhatsApp-first, community-anchored outreach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438144" y="1600200"/>
            <a:ext cx="2724912" cy="443484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16552" y="1892808"/>
            <a:ext cx="768096" cy="768096"/>
          </a:xfrm>
          <a:prstGeom prst="ellipse">
            <a:avLst/>
          </a:prstGeom>
          <a:solidFill>
            <a:srgbClr val="161616"/>
          </a:solidFill>
          <a:ln/>
        </p:spPr>
      </p:sp>
      <p:pic>
        <p:nvPicPr>
          <p:cNvPr id="15" name="Image 1" descr="/home/claude/nri-gtm/namerica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057400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75304" y="280720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America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575304" y="3172968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9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· Canada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803904" y="3593592"/>
            <a:ext cx="1993392" cy="0"/>
          </a:xfrm>
          <a:prstGeom prst="line">
            <a:avLst/>
          </a:prstGeom>
          <a:noFill/>
          <a:ln w="12700">
            <a:solidFill>
              <a:srgbClr val="E5E0D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39312" y="3721608"/>
            <a:ext cx="232257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income, time-zone gap, and a strong appetite for structured financial content.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602736" y="5257800"/>
            <a:ext cx="2395728" cy="566928"/>
          </a:xfrm>
          <a:prstGeom prst="roundRect">
            <a:avLst>
              <a:gd name="adj" fmla="val 9677"/>
            </a:avLst>
          </a:prstGeom>
          <a:solidFill>
            <a:srgbClr val="FBEAD9"/>
          </a:solidFill>
          <a:ln/>
        </p:spPr>
      </p:sp>
      <p:sp>
        <p:nvSpPr>
          <p:cNvPr id="21" name="Text 17"/>
          <p:cNvSpPr/>
          <p:nvPr/>
        </p:nvSpPr>
        <p:spPr>
          <a:xfrm>
            <a:off x="3694176" y="5257800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B84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Finance-influencer content &amp; live webinars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327648" y="1600200"/>
            <a:ext cx="2724912" cy="443484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306056" y="1892808"/>
            <a:ext cx="768096" cy="768096"/>
          </a:xfrm>
          <a:prstGeom prst="ellipse">
            <a:avLst/>
          </a:prstGeom>
          <a:solidFill>
            <a:srgbClr val="161616"/>
          </a:solidFill>
          <a:ln/>
        </p:spPr>
      </p:sp>
      <p:pic>
        <p:nvPicPr>
          <p:cNvPr id="24" name="Image 2" descr="/home/claude/nri-gtm/u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2057400"/>
            <a:ext cx="438912" cy="43891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64808" y="280720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United Kingdom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6464808" y="3172968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9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diaspora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693408" y="3593592"/>
            <a:ext cx="1993392" cy="0"/>
          </a:xfrm>
          <a:prstGeom prst="line">
            <a:avLst/>
          </a:prstGeom>
          <a:noFill/>
          <a:ln w="12700">
            <a:solidFill>
              <a:srgbClr val="E5E0D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528816" y="3721608"/>
            <a:ext cx="232257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inheritance and succession cases; longer-held family property.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492240" y="5257800"/>
            <a:ext cx="2395728" cy="566928"/>
          </a:xfrm>
          <a:prstGeom prst="roundRect">
            <a:avLst>
              <a:gd name="adj" fmla="val 9677"/>
            </a:avLst>
          </a:prstGeom>
          <a:solidFill>
            <a:srgbClr val="FBEAD9"/>
          </a:solidFill>
          <a:ln/>
        </p:spPr>
      </p:sp>
      <p:sp>
        <p:nvSpPr>
          <p:cNvPr id="30" name="Text 25"/>
          <p:cNvSpPr/>
          <p:nvPr/>
        </p:nvSpPr>
        <p:spPr>
          <a:xfrm>
            <a:off x="6583680" y="5257800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B84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Legal-content led, solicitor partnerships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9217152" y="1600200"/>
            <a:ext cx="2724912" cy="443484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10195560" y="1892808"/>
            <a:ext cx="768096" cy="768096"/>
          </a:xfrm>
          <a:prstGeom prst="ellipse">
            <a:avLst/>
          </a:prstGeom>
          <a:solidFill>
            <a:srgbClr val="161616"/>
          </a:solidFill>
          <a:ln/>
        </p:spPr>
      </p:sp>
      <p:pic>
        <p:nvPicPr>
          <p:cNvPr id="33" name="Image 3" descr="/home/claude/nri-gtm/apa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2057400"/>
            <a:ext cx="438912" cy="43891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354312" y="280720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</a:t>
            </a:r>
            <a:endParaRPr lang="en-US" sz="1700" dirty="0"/>
          </a:p>
        </p:txBody>
      </p:sp>
      <p:sp>
        <p:nvSpPr>
          <p:cNvPr id="35" name="Text 29"/>
          <p:cNvSpPr/>
          <p:nvPr/>
        </p:nvSpPr>
        <p:spPr>
          <a:xfrm>
            <a:off x="9354312" y="3172968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9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· Australia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9582912" y="3593592"/>
            <a:ext cx="1993392" cy="0"/>
          </a:xfrm>
          <a:prstGeom prst="line">
            <a:avLst/>
          </a:prstGeom>
          <a:noFill/>
          <a:ln w="12700">
            <a:solidFill>
              <a:srgbClr val="E5E0D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418320" y="3721608"/>
            <a:ext cx="232257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tech-worker NRIs who expect a self-serve, app-like experience.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9381744" y="5257800"/>
            <a:ext cx="2395728" cy="566928"/>
          </a:xfrm>
          <a:prstGeom prst="roundRect">
            <a:avLst>
              <a:gd name="adj" fmla="val 9677"/>
            </a:avLst>
          </a:prstGeom>
          <a:solidFill>
            <a:srgbClr val="FBEAD9"/>
          </a:solidFill>
          <a:ln/>
        </p:spPr>
      </p:sp>
      <p:sp>
        <p:nvSpPr>
          <p:cNvPr id="39" name="Text 33"/>
          <p:cNvSpPr/>
          <p:nvPr/>
        </p:nvSpPr>
        <p:spPr>
          <a:xfrm>
            <a:off x="9473184" y="5257800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B84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&amp; self-serve digital funnel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Mix by Region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service, different door — match the entry channel to how each diaspora already communicates.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16161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606040" y="1645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CHANNEL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8932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HOOK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464040" y="1645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86868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76272"/>
            <a:ext cx="18288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2176272"/>
            <a:ext cx="31546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groups + community associations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89320" y="2176272"/>
            <a:ext cx="32461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B84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flat in Pune, your bank statement in Dubai."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464040" y="2176272"/>
            <a:ext cx="20116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evenings, Friday-adjacent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11064240" cy="0"/>
          </a:xfrm>
          <a:prstGeom prst="line">
            <a:avLst/>
          </a:prstGeom>
          <a:noFill/>
          <a:ln w="12700">
            <a:solidFill>
              <a:srgbClr val="E5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44952"/>
            <a:ext cx="18288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3044952"/>
            <a:ext cx="31546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NRI finance YouTube + live webinars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89320" y="3044952"/>
            <a:ext cx="32461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B84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Q&amp;A on TDS and repatriation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464040" y="3044952"/>
            <a:ext cx="20116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evening / India morning overlap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11064240" cy="0"/>
          </a:xfrm>
          <a:prstGeom prst="line">
            <a:avLst/>
          </a:prstGeom>
          <a:noFill/>
          <a:ln w="12700">
            <a:solidFill>
              <a:srgbClr val="E5E0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40480"/>
            <a:ext cx="11064240" cy="868680"/>
          </a:xfrm>
          <a:prstGeom prst="rect">
            <a:avLst/>
          </a:prstGeom>
          <a:solidFill>
            <a:srgbClr val="F5F4F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13632"/>
            <a:ext cx="18288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06040" y="3913632"/>
            <a:ext cx="31546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Solicitor partnerships + legal content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89320" y="3913632"/>
            <a:ext cx="32461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B84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succession guides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464040" y="3913632"/>
            <a:ext cx="20116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content pushes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0"/>
          </a:xfrm>
          <a:prstGeom prst="line">
            <a:avLst/>
          </a:prstGeom>
          <a:noFill/>
          <a:ln w="12700">
            <a:solidFill>
              <a:srgbClr val="E5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82312"/>
            <a:ext cx="18288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06040" y="4782312"/>
            <a:ext cx="31546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AI tools + tech-worker forums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89320" y="4782312"/>
            <a:ext cx="324612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B84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TDS / risk calculator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464040" y="4782312"/>
            <a:ext cx="20116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Always-on, async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577840"/>
            <a:ext cx="11064240" cy="0"/>
          </a:xfrm>
          <a:prstGeom prst="line">
            <a:avLst/>
          </a:prstGeom>
          <a:noFill/>
          <a:ln w="12700">
            <a:solidFill>
              <a:srgbClr val="E5E0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779008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61616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77900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playbook, four doors — every channel still leads to the same audited, photo-verified management.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SEO: Own the Search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pages already work — the gap is topic depth, Tier-2 coverage, and technical hygiene.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109728"/>
          </a:xfrm>
          <a:prstGeom prst="roundRect">
            <a:avLst/>
          </a:prstGeom>
          <a:solidFill>
            <a:srgbClr val="B8460E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B8460E"/>
          </a:solidFill>
          <a:ln/>
        </p:spPr>
      </p:sp>
      <p:pic>
        <p:nvPicPr>
          <p:cNvPr id="7" name="Image 0" descr="/home/claude/nri-gtm/se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0574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&amp; Coverage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2926080"/>
            <a:ext cx="4800600" cy="0"/>
          </a:xfrm>
          <a:prstGeom prst="line">
            <a:avLst/>
          </a:prstGeom>
          <a:noFill/>
          <a:ln w="12700">
            <a:solidFill>
              <a:srgbClr val="E5E0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3108960"/>
            <a:ext cx="47823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clusters: "NRI TDS on property sale," "POA for NRIs," etc.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41248" y="3730752"/>
            <a:ext cx="47823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into Tier-2 cities: Kochi, Chandigarh, Jaipur, Indore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41248" y="4352544"/>
            <a:ext cx="47823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blog cadence — freshness signals matter to crawlers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41248" y="4974336"/>
            <a:ext cx="47823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Interlink every topic page back to its city page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169164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63640" y="1691640"/>
            <a:ext cx="5349240" cy="109728"/>
          </a:xfrm>
          <a:prstGeom prst="roundRect">
            <a:avLst/>
          </a:prstGeom>
          <a:solidFill>
            <a:srgbClr val="F4933D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0" y="2057400"/>
            <a:ext cx="685800" cy="685800"/>
          </a:xfrm>
          <a:prstGeom prst="ellipse">
            <a:avLst/>
          </a:prstGeom>
          <a:solidFill>
            <a:srgbClr val="F4933D"/>
          </a:solidFill>
          <a:ln/>
        </p:spPr>
      </p:sp>
      <p:pic>
        <p:nvPicPr>
          <p:cNvPr id="17" name="Image 1" descr="/home/claude/nri-gtm/te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52360" y="20574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Foundation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537960" y="2926080"/>
            <a:ext cx="4800600" cy="0"/>
          </a:xfrm>
          <a:prstGeom prst="line">
            <a:avLst/>
          </a:prstGeom>
          <a:noFill/>
          <a:ln w="12700">
            <a:solidFill>
              <a:srgbClr val="E5E0D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56248" y="3108960"/>
            <a:ext cx="47823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 and mobile speed audit (most traffic is mobile)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556248" y="3730752"/>
            <a:ext cx="47823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hreflang / country targeting for diaspora-facing pages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556248" y="4352544"/>
            <a:ext cx="47823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URL structure and XML sitemap coverage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556248" y="4974336"/>
            <a:ext cx="47823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duplicate or thin city-page content before scaling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48640" y="58978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61616"/>
          </a:solidFill>
          <a:ln/>
        </p:spPr>
      </p:sp>
      <p:sp>
        <p:nvSpPr>
          <p:cNvPr id="25" name="Text 21"/>
          <p:cNvSpPr/>
          <p:nvPr/>
        </p:nvSpPr>
        <p:spPr>
          <a:xfrm>
            <a:off x="868680" y="58978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9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2103120" y="589788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 non-branded organic traffic across city and topic pages within 90 days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AEO &amp; GEO: Win the Answer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is no longer just a results page — it is a snippet, a chat answer, and a cited source.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109728"/>
          </a:xfrm>
          <a:prstGeom prst="roundRect">
            <a:avLst/>
          </a:prstGeom>
          <a:solidFill>
            <a:srgbClr val="B8460E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B8460E"/>
          </a:solidFill>
          <a:ln/>
        </p:spPr>
      </p:sp>
      <p:pic>
        <p:nvPicPr>
          <p:cNvPr id="7" name="Image 0" descr="/home/claude/nri-gtm/ae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659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737360" y="24048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4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Engine Optimization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" y="2862072"/>
            <a:ext cx="4800600" cy="0"/>
          </a:xfrm>
          <a:prstGeom prst="line">
            <a:avLst/>
          </a:prstGeom>
          <a:noFill/>
          <a:ln w="12700">
            <a:solidFill>
              <a:srgbClr val="E5E0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3044952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FAQPage + LocalBusiness schema site-wide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" y="3703320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Q&amp;A-formatted H2s so engines lift answers cleanly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1248" y="4361688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NAP (name, address, phone) per city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1248" y="5020056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Google featured snippets &amp; People Also Ask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63640" y="169164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63640" y="1691640"/>
            <a:ext cx="5349240" cy="109728"/>
          </a:xfrm>
          <a:prstGeom prst="roundRect">
            <a:avLst/>
          </a:prstGeom>
          <a:solidFill>
            <a:srgbClr val="F4933D"/>
          </a:solidFill>
          <a:ln/>
        </p:spPr>
      </p:sp>
      <p:sp>
        <p:nvSpPr>
          <p:cNvPr id="17" name="Shape 14"/>
          <p:cNvSpPr/>
          <p:nvPr/>
        </p:nvSpPr>
        <p:spPr>
          <a:xfrm>
            <a:off x="6583680" y="2011680"/>
            <a:ext cx="685800" cy="685800"/>
          </a:xfrm>
          <a:prstGeom prst="ellipse">
            <a:avLst/>
          </a:prstGeom>
          <a:solidFill>
            <a:srgbClr val="F4933D"/>
          </a:solidFill>
          <a:ln/>
        </p:spPr>
      </p:sp>
      <p:pic>
        <p:nvPicPr>
          <p:cNvPr id="18" name="Image 1" descr="/home/claude/nri-gtm/ge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4884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52360" y="19659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1616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7452360" y="24048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9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Engine Optimization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537960" y="2862072"/>
            <a:ext cx="4800600" cy="0"/>
          </a:xfrm>
          <a:prstGeom prst="line">
            <a:avLst/>
          </a:prstGeom>
          <a:noFill/>
          <a:ln w="12700">
            <a:solidFill>
              <a:srgbClr val="E5E0D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56248" y="3044952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Fact-dense, self-contained mini-answers per topic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556248" y="3703320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presence on Reddit, Quora, and NRI forums — LLMs weight community trust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556248" y="4361688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/ llms.txt so AI crawlers cite cleanly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556248" y="5020056"/>
            <a:ext cx="47823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Plain, quotable sentences on pricing and differentiators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58978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61616"/>
          </a:solidFill>
          <a:ln/>
        </p:spPr>
      </p:sp>
      <p:sp>
        <p:nvSpPr>
          <p:cNvPr id="27" name="Text 23"/>
          <p:cNvSpPr/>
          <p:nvPr/>
        </p:nvSpPr>
        <p:spPr>
          <a:xfrm>
            <a:off x="868680" y="5897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49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MONTHLY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2514600" y="58978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ChatGPT / Perplexity "best NRI property manager in [city]" — track whether 66 MG Road appears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 &amp; Reddit: Community-Led Campaign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authority where NRIs plan their finances; grassroots trust where they ask hard questions.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657600"/>
          </a:xfrm>
          <a:prstGeom prst="roundRect">
            <a:avLst>
              <a:gd name="adj" fmla="val 2250"/>
            </a:avLst>
          </a:prstGeom>
          <a:solidFill>
            <a:srgbClr val="000000"/>
          </a:solidFill>
          <a:ln w="12700">
            <a:solidFill>
              <a:srgbClr val="B8460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B8460E"/>
          </a:solidFill>
          <a:ln/>
        </p:spPr>
      </p:sp>
      <p:pic>
        <p:nvPicPr>
          <p:cNvPr id="6" name="Image 0" descr="/home/claude/nri-gtm/linked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659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737360" y="24048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4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authority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22960" y="2862072"/>
            <a:ext cx="4800600" cy="0"/>
          </a:xfrm>
          <a:prstGeom prst="line">
            <a:avLst/>
          </a:prstGeom>
          <a:noFill/>
          <a:ln w="12700">
            <a:solidFill>
              <a:srgbClr val="3A2A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3044952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80" dirty="0">
                <a:solidFill>
                  <a:srgbClr val="E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manager posts myth-busting NRI tax/POA rules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841248" y="3621024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80" dirty="0">
                <a:solidFill>
                  <a:srgbClr val="E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ads to NRI professionals by country + job title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841248" y="4197096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80" dirty="0">
                <a:solidFill>
                  <a:srgbClr val="E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Co-authored content with NRI CA &amp; legal creators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841248" y="4773168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80" dirty="0">
                <a:solidFill>
                  <a:srgbClr val="E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"NRI Property Clinic" LinkedIn Live sessions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263640" y="1691640"/>
            <a:ext cx="5349240" cy="3657600"/>
          </a:xfrm>
          <a:prstGeom prst="roundRect">
            <a:avLst>
              <a:gd name="adj" fmla="val 2250"/>
            </a:avLst>
          </a:prstGeom>
          <a:solidFill>
            <a:srgbClr val="000000"/>
          </a:solidFill>
          <a:ln w="12700">
            <a:solidFill>
              <a:srgbClr val="F493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0" y="2011680"/>
            <a:ext cx="685800" cy="685800"/>
          </a:xfrm>
          <a:prstGeom prst="ellipse">
            <a:avLst/>
          </a:prstGeom>
          <a:solidFill>
            <a:srgbClr val="F4933D"/>
          </a:solidFill>
          <a:ln/>
        </p:spPr>
      </p:sp>
      <p:pic>
        <p:nvPicPr>
          <p:cNvPr id="16" name="Image 1" descr="/home/claude/nri-gtm/reddi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4884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52360" y="196596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Reddit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7452360" y="240487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9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Grassroots trust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537960" y="2862072"/>
            <a:ext cx="4800600" cy="0"/>
          </a:xfrm>
          <a:prstGeom prst="line">
            <a:avLst/>
          </a:prstGeom>
          <a:noFill/>
          <a:ln w="12700">
            <a:solidFill>
              <a:srgbClr val="3A2A1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56248" y="3044952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80" dirty="0">
                <a:solidFill>
                  <a:srgbClr val="E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Value-first participation in r/NRI, r/IndiaInvestments — no hard selling</a:t>
            </a:r>
            <a:endParaRPr lang="en-US" sz="1080" dirty="0"/>
          </a:p>
        </p:txBody>
      </p:sp>
      <p:sp>
        <p:nvSpPr>
          <p:cNvPr id="21" name="Text 17"/>
          <p:cNvSpPr/>
          <p:nvPr/>
        </p:nvSpPr>
        <p:spPr>
          <a:xfrm>
            <a:off x="6556248" y="3621024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80" dirty="0">
                <a:solidFill>
                  <a:srgbClr val="E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AMA: "Ask an NRI Property Manager Anything"</a:t>
            </a:r>
            <a:endParaRPr lang="en-US" sz="1080" dirty="0"/>
          </a:p>
        </p:txBody>
      </p:sp>
      <p:sp>
        <p:nvSpPr>
          <p:cNvPr id="22" name="Text 18"/>
          <p:cNvSpPr/>
          <p:nvPr/>
        </p:nvSpPr>
        <p:spPr>
          <a:xfrm>
            <a:off x="6556248" y="4197096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80" dirty="0">
                <a:solidFill>
                  <a:srgbClr val="E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detailed FAQ answers that double as GEO citation sources</a:t>
            </a:r>
            <a:endParaRPr lang="en-US" sz="1080" dirty="0"/>
          </a:p>
        </p:txBody>
      </p:sp>
      <p:sp>
        <p:nvSpPr>
          <p:cNvPr id="23" name="Text 19"/>
          <p:cNvSpPr/>
          <p:nvPr/>
        </p:nvSpPr>
        <p:spPr>
          <a:xfrm>
            <a:off x="6556248" y="4773168"/>
            <a:ext cx="47823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80" dirty="0">
                <a:solidFill>
                  <a:srgbClr val="E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respond to organic mentions of 66 MG Road</a:t>
            </a:r>
            <a:endParaRPr lang="en-US" sz="1080" dirty="0"/>
          </a:p>
        </p:txBody>
      </p:sp>
      <p:sp>
        <p:nvSpPr>
          <p:cNvPr id="24" name="Shape 20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000000"/>
          </a:solidFill>
          <a:ln w="12700">
            <a:solidFill>
              <a:srgbClr val="3A2A1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68680" y="55778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channels, one voice — professional authority on LinkedIn, grassroots trust on Reddit.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2026-08-08T15:01:02Z</dcterms:created>
  <dcterms:modified xsi:type="dcterms:W3CDTF">2026-08-08T15:01:02Z</dcterms:modified>
</cp:coreProperties>
</file>